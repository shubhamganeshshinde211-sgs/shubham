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AGRIROUTE INTELLIGENCE</a:t>
            </a:r>
          </a:p>
          <a:p>
            <a:pPr>
              <a:spcBef>
                <a:spcPts val="800"/>
              </a:spcBef>
              <a:defRPr sz="2000">
                <a:solidFill>
                  <a:srgbClr val="10B981"/>
                </a:solidFill>
                <a:latin typeface="Calibri"/>
              </a:defRPr>
            </a:pPr>
            <a:r>
              <a:t>Dynamic Logistics Arbitrage &amp; Biological Decay Decision Engine</a:t>
            </a:r>
          </a:p>
          <a:p>
            <a:pPr>
              <a:spcBef>
                <a:spcPts val="6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Maximizing Take-Home Net Cash for Farmers Across 7 Wholesale APMC Mandis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99669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PRESENTED BY TEAM (5 MEMBERS):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Shubham (Team Lead &amp; Problem Statement)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Bharat (Market Data &amp; Price Forecasting)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Krishna (Decay Physics &amp; Truck Logistics)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Vedant (Authoritative Economic Engine)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• Amol (Operational Risk &amp; Live 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Real Farmer Problem: The Perishable Headline Price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THE DANGEROUS HEADLINE TRAP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A Nashik farmer harvests 5,000 kg of fresh tomatoes.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Local Nashik Mandi Price: ₹32 / kg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Delhi Azadpur Mandi Price: ₹52 / kg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The Intuitive (Wrong) Calculation: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  5,000 kg × (₹52 - ₹32) = +₹1,00,000 extra profit!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Farmer hires an open truck to chase Delhi's headline price.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BRUTAL HIGHWAY REALITY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1. 1,280 km Distance: 34 to 36 hours transit duration.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2. 36°C Ambient Heat: Open truck causes &gt;35% physical spoilage &amp; rotting.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3. Diesel &amp; Tolls: Highway freight costs ₹38,000.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4. Mandi Commissions: APMC cess (1.5%) + loading labor.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5. Quality Downgrade: Arriving softened tomatoes sell at distress rate.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FINAL RESULT: Farmer loses -₹6,085 on Delhi trip!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Shipping to Vashi APMC (175 km) yields ₹1,25,000 clean profit!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Our Solution: Real-Time Profit-in-Pocket Decision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1. Real Wholesale Data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Pulls verified historical &amp; live data from Government AGMARKNET across 7 APMC mandis.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2. 3D &amp; 7D Price Forecasting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LightGBM predicts what prices will be when the truck arrives, with 80% confidence bands.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3. Biological Spoilage Physics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Exponential decay kinetics models rotting across 3 truck types and ambient temperatures.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4. Authoritative Money Engine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Single source of truth calculating real cash in pocket after all highway deductions.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5. Multi-Market LP Splitting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SciPy Linear Programming solves optimal volume splits to prevent local market crashes.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6. 5-Scenario Stress Testing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Tests decisions against diesel spikes (+25%), price crashes (-15%), and heat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Architecture: How the 5 Gears Connect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GEAR 1</a:t>
            </a:r>
            <a:br/>
            <a:r>
              <a:t>DATA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AGMARKNET / DMI</a:t>
            </a:r>
            <a:br/>
            <a:r>
              <a:t>SQLite Database</a:t>
            </a:r>
            <a:br/>
            <a:r>
              <a:t>2,275 Records</a:t>
            </a:r>
            <a:br/>
            <a:r>
              <a:t>Zero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GEAR 2</a:t>
            </a:r>
            <a:br/>
            <a:r>
              <a:t>FORECAST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LightGBM ML</a:t>
            </a:r>
            <a:br/>
            <a:r>
              <a:t>3D &amp; 7D Horizons</a:t>
            </a:r>
            <a:br/>
            <a:r>
              <a:t>₹0.90/kg MAE</a:t>
            </a:r>
            <a:br/>
            <a:r>
              <a:t>Prediction Bounds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GEAR 3</a:t>
            </a:r>
            <a:br/>
            <a:r>
              <a:t>DECAY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Transit Kinetics</a:t>
            </a:r>
            <a:br/>
            <a:r>
              <a:t>Heat Sensitivity</a:t>
            </a:r>
            <a:br/>
            <a:r>
              <a:t>3 Vehicle Classes</a:t>
            </a:r>
            <a:br/>
            <a:r>
              <a:t>Shelf-Life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46304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GEAR 4</a:t>
            </a:r>
            <a:br/>
            <a:r>
              <a:t>FINANCE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Authoritative Engine</a:t>
            </a:r>
            <a:br/>
            <a:r>
              <a:t>Mass Conservation</a:t>
            </a:r>
            <a:br/>
            <a:r>
              <a:t>Freight &amp; Tolls</a:t>
            </a:r>
            <a:br/>
            <a:r>
              <a:t>APMC Cess &amp; Labor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6304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GEAR 5</a:t>
            </a:r>
            <a:br/>
            <a:r>
              <a:t>OPTIMIZE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SciPy HiGHS LP</a:t>
            </a:r>
            <a:br/>
            <a:r>
              <a:t>Multi-Mandi Split</a:t>
            </a:r>
            <a:br/>
            <a:r>
              <a:t>Fleet Sizing Bounds</a:t>
            </a:r>
            <a:br/>
            <a:r>
              <a:t>5 Stress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AUTHORITATIVE CALCULATION GUARANTEE: Python Backend remains sole financial authority. No client-side guessing.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PROJECT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Team Ownership &amp; Responsibilities (5 Members)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SHUBHAM — Team Lead &amp; Economic Impact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Owns the vision, problem definition, farmer economics, and commercial business value. Explains why gross headline prices fool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BHARAT — Market Data &amp; Price Forecasting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Owns the AGMARKNET data pipeline, SQLite storage, and 3-Day/7-Day LightGBM ML price forecasting with zero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KRISHNA — Crop Biology &amp; Highway Logistics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Owns crop decay kinetics, ambient temperature math, 3 truck classes, and proves why reefer trucks aren't always profitable.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VEDANT — Economic Engine &amp; Multi-Mandi LP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Owns the authoritative financial truth engine, conservation of mass, and SciPy Linear Programming for volume splitting.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  <a:latin typeface="Calibri"/>
              </a:defRPr>
            </a:pPr>
            <a:r>
              <a:t>AMOL — Operational Risk Engine &amp; Live Demo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Owns the 3 risk policies, 5 stress-test scenarios (bear market, diesel surge), and leads the live interactive dashboard demonstration.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MEMBER 3: KRISHNA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Domain Deep Dive: Biological Decay &amp; Truck Logistics (Krishna)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EXPONENTIAL DECAY KINETICS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First-Order Decay Formula: Loss = 1 - exp(-k * t)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Rate factor (k) scales with ambient temperature (15°C to 45°C).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Crop Shelf Lives: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Tomato: 72 hours (High Perishable)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Green Chilli: 96 hours (High Perishable)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Pomegranate: 480 hours (Semi-Perishable)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Onion: 720 hours (Durable Bulb)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Potato: 960 hours (Durable Starch)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Safe Shelf-Life Cutoff: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If transit hours + gate delay &gt; shelf life, the route is rejected as INFEASIBLE.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3 LOGISTICS VEHICLE CLASSES &amp; THE REEFER PARADOX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1. Open Commercial Canter: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Base ₹1,200 + ₹3.8/ton-km. Max payload 6 MT. No thermal protection.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2. Covered Ventilated Truck (Standard):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Base ₹1,600 + ₹4.5/ton-km. Max payload 9 MT. Moderate protection.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3. Active Reefer Cold Chain (+4°C):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Base ₹4,000 + ₹7.8/ton-km. Max payload 14 MT. 80% decay cut.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THE REEFER ECONOMIC PARADOX: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For hardy Onion/Potato, Reefer freight is ₹6,000 higher, but only saves ₹500 in spoilage!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Our engine penalizes unnecessary Reefer usage, protecting farmer margins.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MEMBER 4: VEDANT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Domain Deep Dive: Single Economic Engine &amp; Multi-Mandi Split (Vedant)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THE AUTHORITATIVE ECONOMIC FORMULA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Master Realization Equation: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Net Realization = Q_sold × P_adj - Deductions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Deductions = Freight + Handling + APMC Cess + Waiting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Conservation of Mass Invariant: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Q_initial = Q_sold + Q_lost + Q_unallocated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Zero Double-Deduction: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Physical loss deducted strictly from quantity sold.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Cosmetic deterioration applies markdown strictly to price.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Automatic Fleet Sizing: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Consignment Q &gt; payload automatically assigns ceil(Q / payload) commercial trucks.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SCIPY LINEAR PROGRAMMING (LP) SPLITTING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Why Multi-Market Splitting?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If a farmer sends 20 MT to a small local mandi, the excess supply causes price slippage.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SciPy HiGHS Solver Formulation: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Maximize: Sum of Net Returns across candidate mandis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Subject to: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1. Sum of split quantities &lt;= Total Consignment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2. Mandi absorption limit &lt;= 12% of daily arrivals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3. Route transit duration &lt;= Safe crop shelf life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Outcome: Automatically splits produce across 2 or 3 regional mandis to maximize total net cash.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MEMBER 2: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Domain Deep Dive: Market Data &amp; 3D/7D Forecasting (Bharat)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GOVERNMENT DATA PIPELINE &amp; STORAGE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Authoritative AGMARKNET Source: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Pulls genuine daily wholesale arrival and modal price data from Government of India AGMARKNET / DMI.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SQLite Database Storage: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2,275 verified records stored in market_observations.db.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Data Quality Guardrails: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Detects abnormal price spikes and unit mismatches (Quintal to Kg).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Zero Future Leakage: Feature engineering uses strictly historical data &lt;= decision date 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LIGHTGBM MACHINE LEARNING FORECASTING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Dual Forecasting Horizons: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3-Day Horizon (Short-Haul Transit)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7-Day Horizon (Hold / Store vs Immediate Dispatch)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Performance Benchmarks: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LightGBM 3D MAE: ₹0.90 / kg (WAPE 2.5%)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• Naive Baseline MAE: ₹11.09 / kg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80% Empirical Prediction Intervals: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Outputs [Lower Bound, Upper Bound] to provide realistic uncertainty bounds for risk stress-testing.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MEMBER 5: AMOL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Domain Deep Dive: Risk Policies &amp; 5 Stress Scenarios (Amol)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3 RISK DECISION POLICIES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1. Conservative Policy: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Prioritizes guaranteed returns. Applies heavy penalty to downside risk. Best for debt-sensitive marginal farmers.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2. Balanced Policy (Default):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Balances expected net realization against downside drawdowns. The recommended standard.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3. Return-Seeking Policy: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   Maximizes upside price potential without downside risk penalization. Best for capitalized commercial farms.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Mathematical Monotonicity Verified: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Score(Conservative) &lt;= Score(Balanced) &lt;= Score(Return-Seeking)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5 DETERMINISTIC STRESS-TEST SCENARIOS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1. Expected Base Case: Normal highway &amp; market clearing.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2. Bear Market Influx: Market clearing price drops -15%.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3. Bull Market Deficit: Terminal demand surges +15%.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4. Diesel &amp; Toll Spike: Fuel rates surge +25%.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5. Severe Heat &amp; Delay: Transit loss escalates +50%.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Downside Shortfall (VaR-90):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Calculates maximum financial loss in rupees.</a:t>
            </a:r>
          </a:p>
          <a:p>
            <a:pPr>
              <a:spcBef>
                <a:spcPts val="5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Resilient Flag: Awarded if route remains profitable across bear market and diesel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Empirical Validation: 165 Historical Decision Backtests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4267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Dispatch Policy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 Formulation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Realized Net (5 MT)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/ kg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Regret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 vs Local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Policy D: Economic Optimizer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SciPy LP + Authoritative Engine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₹2,18,813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₹43.76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₹1,589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81.8% WIN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Policy A: Local-Only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Nearest Mandi (25-40 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₹1,90,372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₹30,031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Policy B: Highest Observed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Naive Headline Arbitrage Chasing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₹1,35,241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₹27.05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₹85,161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Policy C: Highest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Horizon D+3 Price Maximization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₹1,35,241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₹27.05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₹85,161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Hindsight Oracle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Theoretical Maximum in Hindsight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₹2,20,402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₹44.08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(Ceiling)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+14.94% NET GAIN</a:t>
            </a:r>
          </a:p>
          <a:p>
            <a:pPr algn="ctr"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+₹28,442 extra cash per truck over local selling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2976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99.3% ORACLE CAPTURE</a:t>
            </a:r>
          </a:p>
          <a:p>
            <a:pPr algn="ctr"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Captures almost full theoretical upper bound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TOMATO TRAP AVERTED</a:t>
            </a:r>
          </a:p>
          <a:p>
            <a:pPr algn="ctr"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Avoided -₹6,085 loss; delivered ₹1,25,576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29768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100% WIN RATE ON BULBS</a:t>
            </a:r>
          </a:p>
          <a:p>
            <a:pPr algn="ctr"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Beats local sales on 100% of Onion &amp; Potato 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TESTING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Demonstrated Reliability: 43 Automated Tests (100% Passing)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11 ADVERSARIAL STRESS TESTS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Verifies behavior under local price crashes, multi-payload fleet sizing (25 MT -&gt; 3 trucks), expired shelf life rejection, and extreme fuel surges.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10 INVARIANT TESTS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Mathematically verifies transport, spoilage, price, and holding monotonicity; zero double-counting; and mass conservation.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7 API INTEGRATION TESTS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Verifies live FastAPI endpoints: /health, /api/routes/optimize, /api/forecasts/decision-backtest, and backward-compatible realization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15 DATA &amp; FORECAST TESTS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Verifies SQLite deduplication, quintal normalization, LightGBM feature engineering, and walk-forward chronological splits.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EXECUTION RESULT: 43 passed, 0 failed in 1.62s. 100% Deterministic &amp; Reproducible.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CONCLUSION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Business Impact, Live Demonstration &amp;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COMMERCIAL BUSINESS MODEL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Target Customers: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Farmer Producer Organizations (FPOs)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Large Agro-Logistics Aggregators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Cold-Chain Transport Fleet Operators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Quantifiable Economic Value: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Extra ₹28,442 net cash per truck.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For an FPO shipping 20 trucks / week: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  +₹5,68,000 extra net income EVERY WEEK!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Deployment: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1-Click Launch via start_project.bat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Interactive Web Dashboard (Port 8080)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  • Authoritative FastAPI Backend (Port 8000)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READY FOR LIVE DEMONSTRATION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1. Dynamic Route Corridor Canvas Animation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2. Unit Economics Financial Waterfall Breakdown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3. Multi-Mandi SciPy LP Allocation Plan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4. 5-Scenario Downside Stress Testing Table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5. Interactive Backtest Commodity Slice Filters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6. Official Printable APMC Consignment Bill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We are ready for Questions &amp;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